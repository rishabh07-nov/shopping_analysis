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Heebo Light"/>
      <p:regular r:id="rId201314"/>
    </p:embeddedFont>
    <p:embeddedFont>
      <p:font typeface="Heebo"/>
      <p:regular r:id="rId201315"/>
    </p:embeddedFont>
    <p:embeddedFont>
      <p:font typeface="Heebo Medium"/>
      <p:regular r:id="rId201316"/>
    </p:embeddedFont>
    <p:embeddedFont>
      <p:font typeface="Heebo SemiBold"/>
      <p:regular r:id="rId201317"/>
    </p:embeddedFont>
    <p:embeddedFont>
      <p:font typeface="Heebo Bold"/>
      <p:regular r:id="rId201318"/>
    </p:embeddedFont>
    <p:embeddedFont>
      <p:font typeface="Montserrat SemiBold"/>
      <p:regular r:id="rId201319"/>
    </p:embeddedFont>
    <p:embeddedFont>
      <p:font typeface="Montserrat Medium"/>
      <p:regular r:id="rId2013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jpeg"/><Relationship Id="rId3" Type="http://schemas.openxmlformats.org/officeDocument/2006/relationships/image" Target="../media/image-1002-3.png"/><Relationship Id="rId5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3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A2C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35000"/>
            </a:srgbClr>
          </a:solidFill>
          <a:ln/>
        </p:spPr>
      </p:sp>
      <p:pic>
        <p:nvPicPr>
          <p:cNvPr id="6" name="Image 2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A2C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0" dirty="0">
                <a:solidFill>
                  <a:srgbClr val="FFFFFF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CUSTOMER ANALYTICS · POWER BI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78185"/>
            <a:ext cx="10972526" cy="199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8200" spc="-287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Customer shopping behavior</a:t>
            </a:r>
            <a:endParaRPr lang="en-US" sz="8200" dirty="0"/>
          </a:p>
        </p:txBody>
      </p:sp>
      <p:sp>
        <p:nvSpPr>
          <p:cNvPr id="4" name="Shape 2"/>
          <p:cNvSpPr/>
          <p:nvPr/>
        </p:nvSpPr>
        <p:spPr>
          <a:xfrm>
            <a:off x="609585" y="3217267"/>
            <a:ext cx="3620798" cy="31651"/>
          </a:xfrm>
          <a:prstGeom prst="roundRect">
            <a:avLst>
              <a:gd name="adj" fmla="val 49998"/>
            </a:avLst>
          </a:prstGeom>
          <a:solidFill>
            <a:srgbClr val="3B315E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3738066"/>
            <a:ext cx="10972526" cy="690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000" spc="-50" kern="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From 4,000 transaction records to a Power BI-ready view of customers, products, profit, seasonality, subscriptions, promotions, and returns.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0" dirty="0">
                <a:solidFill>
                  <a:srgbClr val="B6ACCB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ANALYTICS 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78185"/>
            <a:ext cx="10972526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85" kern="0" dirty="0">
                <a:solidFill>
                  <a:srgbClr val="F2F0F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The project connects four analytics layers into one business view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2133203"/>
            <a:ext cx="10972526" cy="31651"/>
          </a:xfrm>
          <a:prstGeom prst="roundRect">
            <a:avLst>
              <a:gd name="adj" fmla="val 49998"/>
            </a:avLst>
          </a:prstGeom>
          <a:solidFill>
            <a:srgbClr val="3B315E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2482552"/>
            <a:ext cx="85564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9857F9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01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09585" y="2784773"/>
            <a:ext cx="2514537" cy="19050"/>
          </a:xfrm>
          <a:prstGeom prst="rect">
            <a:avLst/>
          </a:prstGeom>
          <a:solidFill>
            <a:srgbClr val="9857F9"/>
          </a:solidFill>
          <a:ln/>
        </p:spPr>
      </p:sp>
      <p:sp>
        <p:nvSpPr>
          <p:cNvPr id="7" name="Text 5"/>
          <p:cNvSpPr/>
          <p:nvPr/>
        </p:nvSpPr>
        <p:spPr>
          <a:xfrm>
            <a:off x="609585" y="2933303"/>
            <a:ext cx="2514537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Prepare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09585" y="3413820"/>
            <a:ext cx="2514537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Validate and standardize the dataset in Python.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428914" y="2482552"/>
            <a:ext cx="85564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9857F9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02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428914" y="2784773"/>
            <a:ext cx="2514537" cy="19050"/>
          </a:xfrm>
          <a:prstGeom prst="rect">
            <a:avLst/>
          </a:prstGeom>
          <a:solidFill>
            <a:srgbClr val="9857F9"/>
          </a:solidFill>
          <a:ln/>
        </p:spPr>
      </p:sp>
      <p:sp>
        <p:nvSpPr>
          <p:cNvPr id="11" name="Text 9"/>
          <p:cNvSpPr/>
          <p:nvPr/>
        </p:nvSpPr>
        <p:spPr>
          <a:xfrm>
            <a:off x="3428914" y="2933303"/>
            <a:ext cx="2514537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Analyze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428914" y="3413820"/>
            <a:ext cx="2514537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Use exploratory analysis and PostgreSQL queries to surface patterns.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248244" y="2482552"/>
            <a:ext cx="85564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9857F9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03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248244" y="2784773"/>
            <a:ext cx="2514537" cy="19050"/>
          </a:xfrm>
          <a:prstGeom prst="rect">
            <a:avLst/>
          </a:prstGeom>
          <a:solidFill>
            <a:srgbClr val="9857F9"/>
          </a:solidFill>
          <a:ln/>
        </p:spPr>
      </p:sp>
      <p:sp>
        <p:nvSpPr>
          <p:cNvPr id="15" name="Text 13"/>
          <p:cNvSpPr/>
          <p:nvPr/>
        </p:nvSpPr>
        <p:spPr>
          <a:xfrm>
            <a:off x="6248244" y="2933303"/>
            <a:ext cx="2514537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Measure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248244" y="3413820"/>
            <a:ext cx="2514537" cy="1208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Define reusable DAX metrics for revenue, profit, orders, customers, and returns.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067573" y="2482552"/>
            <a:ext cx="85564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9857F9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04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9067573" y="2784773"/>
            <a:ext cx="2514537" cy="19050"/>
          </a:xfrm>
          <a:prstGeom prst="rect">
            <a:avLst/>
          </a:prstGeom>
          <a:solidFill>
            <a:srgbClr val="9857F9"/>
          </a:solidFill>
          <a:ln/>
        </p:spPr>
      </p:sp>
      <p:sp>
        <p:nvSpPr>
          <p:cNvPr id="19" name="Text 17"/>
          <p:cNvSpPr/>
          <p:nvPr/>
        </p:nvSpPr>
        <p:spPr>
          <a:xfrm>
            <a:off x="9067573" y="2933303"/>
            <a:ext cx="2514537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Communicate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9067573" y="3413820"/>
            <a:ext cx="2514537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Bring the findings together in a multi-page Power BI dashboard.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0" dirty="0">
                <a:solidFill>
                  <a:srgbClr val="B6ACCB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DATA FOUNDATION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78185"/>
            <a:ext cx="10972526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85" kern="0" dirty="0">
                <a:solidFill>
                  <a:srgbClr val="F2F0F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The dataset is complete enough to support a broad diagnostic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9585" y="2082006"/>
            <a:ext cx="3855643" cy="7802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6400" spc="-224" kern="0" dirty="0">
                <a:solidFill>
                  <a:srgbClr val="D84C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4,000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609585" y="2986087"/>
            <a:ext cx="3855643" cy="690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000" spc="-50" kern="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rows · 24 columns · 0 missing values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09585" y="3956149"/>
            <a:ext cx="1272250" cy="31651"/>
          </a:xfrm>
          <a:prstGeom prst="roundRect">
            <a:avLst>
              <a:gd name="adj" fmla="val 49998"/>
            </a:avLst>
          </a:prstGeom>
          <a:solidFill>
            <a:srgbClr val="3B315E"/>
          </a:solidFill>
          <a:ln/>
        </p:spPr>
      </p:sp>
      <p:sp>
        <p:nvSpPr>
          <p:cNvPr id="7" name="Text 5"/>
          <p:cNvSpPr/>
          <p:nvPr/>
        </p:nvSpPr>
        <p:spPr>
          <a:xfrm>
            <a:off x="609585" y="4238823"/>
            <a:ext cx="3855643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Customers span ages 18–70. Purchase window: 2024-01-02 to 2026-09-14.</a:t>
            </a:r>
            <a:endParaRPr lang="en-US" sz="17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22317" y="2006302"/>
          <a:ext cx="9143771" cy="914400"/>
        </p:xfrm>
        <a:graphic>
          <a:graphicData uri="http://schemas.openxmlformats.org/drawingml/2006/table">
            <a:tbl>
              <a:tblPr/>
              <a:tblGrid>
                <a:gridCol w="3196701"/>
                <a:gridCol w="3463092"/>
              </a:tblGrid>
              <a:tr h="4875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F2F0F4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Dimension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F2F0F4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Value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5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Rows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4,000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5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Columns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24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5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Missing values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 across all columns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5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Unique products · Categories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25 · 4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48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Locations · Seasons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50 · 4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819573"/>
            <a:ext cx="5257668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0" dirty="0">
                <a:solidFill>
                  <a:srgbClr val="B6ACCB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AGE-GROUP COMPARISON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2088158"/>
            <a:ext cx="4648084" cy="183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85" kern="0" dirty="0">
                <a:solidFill>
                  <a:srgbClr val="F2F0F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Average purchase value is remarkably stable across age groups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9585" y="4131667"/>
            <a:ext cx="4648084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The observed averages stay within roughly two dollars, from USD 58.83 for ages 26–35 to USD 60.80 for ages 66+.</a:t>
            </a:r>
            <a:endParaRPr lang="en-US" sz="1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34027" y="1450677"/>
            <a:ext cx="4648084" cy="368111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934027" y="5217517"/>
            <a:ext cx="5257668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17" kern="0" dirty="0">
                <a:solidFill>
                  <a:srgbClr val="A8A0B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Average purchase amount by age group · USD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988616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0" dirty="0">
                <a:solidFill>
                  <a:srgbClr val="B6ACCB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SEASONAL REVENUE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1257201"/>
            <a:ext cx="10972526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85" kern="0" dirty="0">
                <a:solidFill>
                  <a:srgbClr val="F2F0F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Spring leads seasonal revenue, but the spread is modest</a:t>
            </a:r>
            <a:endParaRPr lang="en-US" sz="3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385318"/>
            <a:ext cx="7111822" cy="348406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26199" y="3170535"/>
            <a:ext cx="3555911" cy="1381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000" spc="-50" kern="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Spring records the highest total purchase amount at USD 61,655, while Summer is lowest at USD 57,341.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026199" y="4704457"/>
            <a:ext cx="3555911" cy="379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17" kern="0" dirty="0">
                <a:solidFill>
                  <a:srgbClr val="A8A0B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pattern should be read alongside month, category, and segment views.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0" dirty="0">
                <a:solidFill>
                  <a:srgbClr val="B6ACCB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BASELINE ECONOMICS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78185"/>
            <a:ext cx="10972526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85" kern="0" dirty="0">
                <a:solidFill>
                  <a:srgbClr val="F2F0F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The sample is volume-heavy, so value and profit need to be read together</a:t>
            </a:r>
            <a:endParaRPr lang="en-US" sz="3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006302"/>
            <a:ext cx="5333867" cy="2921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5013027"/>
            <a:ext cx="6484478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17" kern="0" dirty="0">
                <a:solidFill>
                  <a:srgbClr val="A8A0B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Baseline economics per transaction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7551152" y="2298898"/>
            <a:ext cx="4030959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Volume leaders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7551152" y="2992636"/>
            <a:ext cx="1330093" cy="31651"/>
          </a:xfrm>
          <a:prstGeom prst="roundRect">
            <a:avLst>
              <a:gd name="adj" fmla="val 49998"/>
            </a:avLst>
          </a:prstGeom>
          <a:solidFill>
            <a:srgbClr val="3B315E"/>
          </a:solidFill>
          <a:ln/>
        </p:spPr>
      </p:sp>
      <p:sp>
        <p:nvSpPr>
          <p:cNvPr id="8" name="Text 5"/>
          <p:cNvSpPr/>
          <p:nvPr/>
        </p:nvSpPr>
        <p:spPr>
          <a:xfrm>
            <a:off x="7551152" y="3275310"/>
            <a:ext cx="4030959" cy="1634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Clothing</a:t>
            </a:r>
            <a:endParaRPr lang="en-US" sz="1700" dirty="0"/>
          </a:p>
          <a:p>
            <a:pPr algn="l" indent="0" marL="0">
              <a:lnSpc>
                <a:spcPct val="117000"/>
              </a:lnSpc>
              <a:spcAft>
                <a:spcPts val="950"/>
              </a:spcAft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1,725 purchases; largest category by records.</a:t>
            </a:r>
            <a:endParaRPr lang="en-US" sz="17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Loyal</a:t>
            </a:r>
            <a:endParaRPr lang="en-US" sz="17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2,780 records; largest segment.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4145256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0" dirty="0">
                <a:solidFill>
                  <a:srgbClr val="B6ACCB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SUBSCRIPTION STATUS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78185"/>
            <a:ext cx="3535671" cy="27461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85" kern="0" dirty="0">
                <a:solidFill>
                  <a:srgbClr val="F2F0F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Subscription status does not separate average purchase value in this sample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9585" y="3837087"/>
            <a:ext cx="3535671" cy="1511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Subscribers average about USD 59.54 per purchase versus USD 59.75 for non-subscribers. This is an observed association, not evidence of causality.</a:t>
            </a:r>
            <a:endParaRPr lang="en-US" sz="1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118" y="609600"/>
            <a:ext cx="5912992" cy="42749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118" y="4970264"/>
            <a:ext cx="6522577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17" kern="0" dirty="0">
                <a:solidFill>
                  <a:srgbClr val="A8A0B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Average purchase values are nearly identical for subscribers and non-subscribers.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0" dirty="0">
                <a:solidFill>
                  <a:srgbClr val="B6ACCB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RECURRING MONITORING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78185"/>
            <a:ext cx="10972526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85" kern="0" dirty="0">
                <a:solidFill>
                  <a:srgbClr val="F2F0F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The dashboard turns business questions into recurring monitoring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2133203"/>
            <a:ext cx="10972526" cy="31651"/>
          </a:xfrm>
          <a:prstGeom prst="roundRect">
            <a:avLst>
              <a:gd name="adj" fmla="val 49998"/>
            </a:avLst>
          </a:prstGeom>
          <a:solidFill>
            <a:srgbClr val="3B315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482552"/>
            <a:ext cx="5333867" cy="165387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0879" y="2723852"/>
            <a:ext cx="4851279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Executive overview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50879" y="3290689"/>
            <a:ext cx="4851279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Revenue, profit, orders, average purchase, return rate, and trends.</a:t>
            </a:r>
            <a:endParaRPr lang="en-US" sz="17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244" y="2482552"/>
            <a:ext cx="5333867" cy="165387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89538" y="2723852"/>
            <a:ext cx="4851279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Customer analytics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6489538" y="3290689"/>
            <a:ext cx="4851279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Segments, demographics, subscription behavior, and repeat purchase history.</a:t>
            </a:r>
            <a:endParaRPr lang="en-US" sz="17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4441230"/>
            <a:ext cx="5333867" cy="165387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50879" y="4682530"/>
            <a:ext cx="4851279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Product analytics</a:t>
            </a:r>
            <a:endParaRPr lang="en-US" sz="2400" dirty="0"/>
          </a:p>
        </p:txBody>
      </p:sp>
      <p:sp>
        <p:nvSpPr>
          <p:cNvPr id="13" name="Text 8"/>
          <p:cNvSpPr/>
          <p:nvPr/>
        </p:nvSpPr>
        <p:spPr>
          <a:xfrm>
            <a:off x="850879" y="5249366"/>
            <a:ext cx="4851279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Top products, category performance, ratings, profit, and returns.</a:t>
            </a:r>
            <a:endParaRPr lang="en-US" sz="17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244" y="4441230"/>
            <a:ext cx="5333867" cy="1653877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489538" y="4682530"/>
            <a:ext cx="4851279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Sales and returns</a:t>
            </a:r>
            <a:endParaRPr lang="en-US" sz="2400" dirty="0"/>
          </a:p>
        </p:txBody>
      </p:sp>
      <p:sp>
        <p:nvSpPr>
          <p:cNvPr id="16" name="Text 10"/>
          <p:cNvSpPr/>
          <p:nvPr/>
        </p:nvSpPr>
        <p:spPr>
          <a:xfrm>
            <a:off x="6489538" y="5249366"/>
            <a:ext cx="4851279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Monthly movement, seasonality, discount and promo usage, and category-level returns.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0" dirty="0">
                <a:solidFill>
                  <a:srgbClr val="B6ACCB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TEST THE NEXT DECISIONS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78185"/>
            <a:ext cx="10972526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85" kern="0" dirty="0">
                <a:solidFill>
                  <a:srgbClr val="F2F0F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The next decisions are about testing, not assuming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1675507"/>
            <a:ext cx="10972526" cy="31651"/>
          </a:xfrm>
          <a:prstGeom prst="roundRect">
            <a:avLst>
              <a:gd name="adj" fmla="val 49998"/>
            </a:avLst>
          </a:prstGeom>
          <a:solidFill>
            <a:srgbClr val="3B315E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2024856"/>
            <a:ext cx="85564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9857F9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01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09585" y="2327077"/>
            <a:ext cx="2514537" cy="19050"/>
          </a:xfrm>
          <a:prstGeom prst="rect">
            <a:avLst/>
          </a:prstGeom>
          <a:solidFill>
            <a:srgbClr val="9857F9"/>
          </a:solidFill>
          <a:ln/>
        </p:spPr>
      </p:sp>
      <p:sp>
        <p:nvSpPr>
          <p:cNvPr id="7" name="Text 5"/>
          <p:cNvSpPr/>
          <p:nvPr/>
        </p:nvSpPr>
        <p:spPr>
          <a:xfrm>
            <a:off x="609585" y="2475607"/>
            <a:ext cx="2514537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Seasonal demand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09585" y="2956123"/>
            <a:ext cx="2514537" cy="1511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Plan inventory and campaigns around seasonal demand; validate the pattern across more periods.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428914" y="2024856"/>
            <a:ext cx="85564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9857F9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02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428914" y="2327077"/>
            <a:ext cx="2514537" cy="19050"/>
          </a:xfrm>
          <a:prstGeom prst="rect">
            <a:avLst/>
          </a:prstGeom>
          <a:solidFill>
            <a:srgbClr val="9857F9"/>
          </a:solidFill>
          <a:ln/>
        </p:spPr>
      </p:sp>
      <p:sp>
        <p:nvSpPr>
          <p:cNvPr id="11" name="Text 9"/>
          <p:cNvSpPr/>
          <p:nvPr/>
        </p:nvSpPr>
        <p:spPr>
          <a:xfrm>
            <a:off x="3428914" y="2475607"/>
            <a:ext cx="2514537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Promotions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428914" y="2956123"/>
            <a:ext cx="2514537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Evaluate discounts and promotions on profit as well as sales volume.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248244" y="2024856"/>
            <a:ext cx="85564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9857F9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03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248244" y="2327077"/>
            <a:ext cx="2514537" cy="19050"/>
          </a:xfrm>
          <a:prstGeom prst="rect">
            <a:avLst/>
          </a:prstGeom>
          <a:solidFill>
            <a:srgbClr val="9857F9"/>
          </a:solidFill>
          <a:ln/>
        </p:spPr>
      </p:sp>
      <p:sp>
        <p:nvSpPr>
          <p:cNvPr id="15" name="Text 13"/>
          <p:cNvSpPr/>
          <p:nvPr/>
        </p:nvSpPr>
        <p:spPr>
          <a:xfrm>
            <a:off x="6248244" y="2475607"/>
            <a:ext cx="2514537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Returns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248244" y="2956123"/>
            <a:ext cx="2514537" cy="1208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Investigate high-return products by category, sizing, quality, and customer expectations.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067573" y="2024856"/>
            <a:ext cx="85564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9857F9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04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9067573" y="2327077"/>
            <a:ext cx="2514537" cy="19050"/>
          </a:xfrm>
          <a:prstGeom prst="rect">
            <a:avLst/>
          </a:prstGeom>
          <a:solidFill>
            <a:srgbClr val="9857F9"/>
          </a:solidFill>
          <a:ln/>
        </p:spPr>
      </p:sp>
      <p:sp>
        <p:nvSpPr>
          <p:cNvPr id="19" name="Text 17"/>
          <p:cNvSpPr/>
          <p:nvPr/>
        </p:nvSpPr>
        <p:spPr>
          <a:xfrm>
            <a:off x="9067573" y="2475607"/>
            <a:ext cx="2514537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Subscriptions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9067573" y="2956123"/>
            <a:ext cx="2514537" cy="1511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Measure success through retention, purchase frequency, and lifetime value—not average spending alone.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477566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0" dirty="0">
                <a:solidFill>
                  <a:srgbClr val="B6ACCB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FROM ANALYSIS TO USE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1746151"/>
            <a:ext cx="10972526" cy="2340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6400" spc="-224" kern="0" dirty="0">
                <a:solidFill>
                  <a:srgbClr val="F2F0F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Power BI makes the analysis usable beyond the notebook</a:t>
            </a:r>
            <a:endParaRPr lang="en-US" sz="6400" dirty="0"/>
          </a:p>
        </p:txBody>
      </p:sp>
      <p:sp>
        <p:nvSpPr>
          <p:cNvPr id="4" name="Shape 2"/>
          <p:cNvSpPr/>
          <p:nvPr/>
        </p:nvSpPr>
        <p:spPr>
          <a:xfrm>
            <a:off x="609585" y="4426545"/>
            <a:ext cx="3620798" cy="31651"/>
          </a:xfrm>
          <a:prstGeom prst="roundRect">
            <a:avLst>
              <a:gd name="adj" fmla="val 49998"/>
            </a:avLst>
          </a:prstGeom>
          <a:solidFill>
            <a:srgbClr val="3B315E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4775895"/>
            <a:ext cx="10972526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The project’s value is the end-to-end workflow: clean data, business questions, reusable measures, and an interactive dashboard that keeps revenue, profit, customers, products, subscriptions, discounts, and returns in view.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2026-09-29T11:28:19Z</dcterms:created>
  <dcterms:modified xsi:type="dcterms:W3CDTF">2026-09-29T11:28:19Z</dcterms:modified>
</cp:coreProperties>
</file>